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Proxima Nova"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h757f1655c9f3da6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h757f1655c9f3da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h757f1655c9f3da6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h757f1655c9f3da6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h757f1655c9f3da64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h757f1655c9f3da6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h757f1655c9f3da64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h757f1655c9f3da6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h757f1655c9f3da64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h757f1655c9f3da6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h757f1655c9f3da64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h757f1655c9f3da64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h757f1655c9f3da64_0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h757f1655c9f3da64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h757f1655c9f3da64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h757f1655c9f3da64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h757f1655c9f3da64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h757f1655c9f3da64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h757f1655c9f3da64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h757f1655c9f3da6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h757f1655c9f3da64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h757f1655c9f3da6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h757f1655c9f3da64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h757f1655c9f3da64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h757f1655c9f3da64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h757f1655c9f3da64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57f1655c9f3da64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h757f1655c9f3da64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h757f1655c9f3da64_2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h757f1655c9f3da64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h757f1655c9f3da64_2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h757f1655c9f3da64_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h757f1655c9f3da64_2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h757f1655c9f3da64_2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757f1655c9f3da64_2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h757f1655c9f3da64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h757f1655c9f3da64_2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h757f1655c9f3da64_2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h757f1655c9f3da64_2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h757f1655c9f3da64_2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311708" y="781525"/>
            <a:ext cx="8520600" cy="2052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Sprint 1</a:t>
            </a:r>
            <a:endParaRPr/>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By Kevin Herrera, Brian Leung, Ishaan Joshi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Introduction</a:t>
            </a:r>
            <a:endParaRPr/>
          </a:p>
          <a:p>
            <a:pPr marL="457200" lvl="0" indent="0" algn="l" rtl="0">
              <a:spcBef>
                <a:spcPts val="0"/>
              </a:spcBef>
              <a:spcAft>
                <a:spcPts val="0"/>
              </a:spcAft>
              <a:buNone/>
            </a:pP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n" sz="1600" b="1">
                <a:solidFill>
                  <a:schemeClr val="dk1"/>
                </a:solidFill>
              </a:rPr>
              <a:t>Project:</a:t>
            </a:r>
            <a:r>
              <a:rPr lang="en" sz="1600">
                <a:solidFill>
                  <a:schemeClr val="dk1"/>
                </a:solidFill>
              </a:rPr>
              <a:t> A Claim Complexity Algorithm for Penser North America, a workers compensation third party administrator in Washington. It scores the complexity of each claim and gives a separate cost estimate. It has machine learning models, a web interface, and an API, and is meant to support decisions. Sprint 1 focused on gathering requirements and planning while we wait on the sanitized claims data.</a:t>
            </a:r>
            <a:endParaRPr sz="1600">
              <a:solidFill>
                <a:schemeClr val="dk1"/>
              </a:solidFill>
            </a:endParaRPr>
          </a:p>
          <a:p>
            <a:pPr marL="0" lvl="0" indent="0" algn="l" rtl="0">
              <a:lnSpc>
                <a:spcPct val="105000"/>
              </a:lnSpc>
              <a:spcBef>
                <a:spcPts val="1200"/>
              </a:spcBef>
              <a:spcAft>
                <a:spcPts val="0"/>
              </a:spcAft>
              <a:buNone/>
            </a:pPr>
            <a:r>
              <a:rPr lang="en" sz="1600" b="1">
                <a:solidFill>
                  <a:schemeClr val="dk1"/>
                </a:solidFill>
              </a:rPr>
              <a:t>Team:</a:t>
            </a:r>
            <a:endParaRPr sz="1600" b="1">
              <a:solidFill>
                <a:schemeClr val="dk1"/>
              </a:solidFill>
            </a:endParaRPr>
          </a:p>
          <a:p>
            <a:pPr marL="0" lvl="0" indent="0" algn="l" rtl="0">
              <a:lnSpc>
                <a:spcPct val="105000"/>
              </a:lnSpc>
              <a:spcBef>
                <a:spcPts val="1200"/>
              </a:spcBef>
              <a:spcAft>
                <a:spcPts val="0"/>
              </a:spcAft>
              <a:buNone/>
            </a:pPr>
            <a:r>
              <a:rPr lang="en" sz="1600">
                <a:solidFill>
                  <a:schemeClr val="dk1"/>
                </a:solidFill>
              </a:rPr>
              <a:t>Kevin is team lead, with full stack development and AI experience. </a:t>
            </a:r>
            <a:endParaRPr sz="1600">
              <a:solidFill>
                <a:schemeClr val="dk1"/>
              </a:solidFill>
            </a:endParaRPr>
          </a:p>
          <a:p>
            <a:pPr marL="0" lvl="0" indent="0" algn="l" rtl="0">
              <a:lnSpc>
                <a:spcPct val="105000"/>
              </a:lnSpc>
              <a:spcBef>
                <a:spcPts val="1200"/>
              </a:spcBef>
              <a:spcAft>
                <a:spcPts val="0"/>
              </a:spcAft>
              <a:buNone/>
            </a:pPr>
            <a:r>
              <a:rPr lang="en" sz="1600">
                <a:solidFill>
                  <a:schemeClr val="dk1"/>
                </a:solidFill>
              </a:rPr>
              <a:t>Brian has experience in ML and Data Science. </a:t>
            </a:r>
            <a:endParaRPr sz="1600">
              <a:solidFill>
                <a:schemeClr val="dk1"/>
              </a:solidFill>
            </a:endParaRPr>
          </a:p>
          <a:p>
            <a:pPr marL="0" lvl="0" indent="0" algn="l" rtl="0">
              <a:lnSpc>
                <a:spcPct val="105000"/>
              </a:lnSpc>
              <a:spcBef>
                <a:spcPts val="1200"/>
              </a:spcBef>
              <a:spcAft>
                <a:spcPts val="1200"/>
              </a:spcAft>
              <a:buNone/>
            </a:pPr>
            <a:r>
              <a:rPr lang="en" sz="1600">
                <a:solidFill>
                  <a:schemeClr val="dk1"/>
                </a:solidFill>
              </a:rPr>
              <a:t>Ishaan has experience in Algorithms and Formal Methods. </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Sprint Objectives</a:t>
            </a:r>
            <a:endParaRPr/>
          </a:p>
          <a:p>
            <a:pPr marL="0" lvl="0" indent="0" algn="l" rtl="0">
              <a:spcBef>
                <a:spcPts val="0"/>
              </a:spcBef>
              <a:spcAft>
                <a:spcPts val="0"/>
              </a:spcAft>
              <a:buNone/>
            </a:pPr>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a:solidFill>
                  <a:schemeClr val="dk1"/>
                </a:solidFill>
              </a:rPr>
              <a:t>Sprint 1 ran from September 4 to October 11 and was a planning and research sprint which is what Penser proposed for the first sprint. Our goals were to gather requirements through meetings with Penser, sign the confidentiality agreements needed for data access, and turn the requirements into user stories, use case diagrams, and UML diagrams. We researched different approaches and worked on the skills we need for the project. </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Requirements Gathering</a:t>
            </a:r>
            <a:endParaRPr/>
          </a:p>
        </p:txBody>
      </p:sp>
      <p:sp>
        <p:nvSpPr>
          <p:cNvPr id="78" name="Google Shape;78;p16"/>
          <p:cNvSpPr txBox="1">
            <a:spLocks noGrp="1"/>
          </p:cNvSpPr>
          <p:nvPr>
            <p:ph type="body" idx="1"/>
          </p:nvPr>
        </p:nvSpPr>
        <p:spPr>
          <a:xfrm>
            <a:off x="311700" y="1145650"/>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Meeting 1 - Kick-off Meeting (30 mins)</a:t>
            </a:r>
            <a:endParaRPr sz="1600">
              <a:solidFill>
                <a:schemeClr val="dk1"/>
              </a:solidFill>
            </a:endParaRPr>
          </a:p>
          <a:p>
            <a:pPr marL="0" lvl="0" indent="0" algn="l" rtl="0">
              <a:spcBef>
                <a:spcPts val="1200"/>
              </a:spcBef>
              <a:spcAft>
                <a:spcPts val="0"/>
              </a:spcAft>
              <a:buNone/>
            </a:pPr>
            <a:r>
              <a:rPr lang="en" sz="1600">
                <a:solidFill>
                  <a:schemeClr val="dk1"/>
                </a:solidFill>
              </a:rPr>
              <a:t>Meeting 2 - Requirements Meeting (30 mins)</a:t>
            </a:r>
            <a:endParaRPr sz="1600">
              <a:solidFill>
                <a:schemeClr val="dk1"/>
              </a:solidFill>
            </a:endParaRPr>
          </a:p>
          <a:p>
            <a:pPr marL="0" lvl="0" indent="0" algn="l" rtl="0">
              <a:spcBef>
                <a:spcPts val="1200"/>
              </a:spcBef>
              <a:spcAft>
                <a:spcPts val="0"/>
              </a:spcAft>
              <a:buNone/>
            </a:pPr>
            <a:r>
              <a:rPr lang="en" sz="1600">
                <a:solidFill>
                  <a:schemeClr val="dk1"/>
                </a:solidFill>
              </a:rPr>
              <a:t>Meeting 3 - Check-in Meeting (30 mins)</a:t>
            </a:r>
            <a:endParaRPr sz="1600">
              <a:solidFill>
                <a:schemeClr val="dk1"/>
              </a:solidFill>
            </a:endParaRPr>
          </a:p>
          <a:p>
            <a:pPr marL="0" lvl="0" indent="0" algn="l" rtl="0">
              <a:spcBef>
                <a:spcPts val="1200"/>
              </a:spcBef>
              <a:spcAft>
                <a:spcPts val="0"/>
              </a:spcAft>
              <a:buNone/>
            </a:pPr>
            <a:r>
              <a:rPr lang="en" sz="1600">
                <a:solidFill>
                  <a:schemeClr val="dk1"/>
                </a:solidFill>
              </a:rPr>
              <a:t>Summarized notes:</a:t>
            </a:r>
            <a:endParaRPr sz="1600">
              <a:solidFill>
                <a:schemeClr val="dk1"/>
              </a:solidFill>
            </a:endParaRPr>
          </a:p>
          <a:p>
            <a:pPr marL="0" lvl="0" indent="0" algn="l" rtl="0">
              <a:spcBef>
                <a:spcPts val="1200"/>
              </a:spcBef>
              <a:spcAft>
                <a:spcPts val="1200"/>
              </a:spcAft>
              <a:buClr>
                <a:schemeClr val="dk1"/>
              </a:buClr>
              <a:buSzPts val="1100"/>
              <a:buFont typeface="Arial"/>
              <a:buNone/>
            </a:pPr>
            <a:r>
              <a:rPr lang="en" sz="1600">
                <a:solidFill>
                  <a:schemeClr val="dk1"/>
                </a:solidFill>
              </a:rPr>
              <a:t>Three client meetings were held. The client will provide about 10k records over 5 years, around 7 MB of diary notes sanitized by Penser. They expect retraining roughly every 6 months. We are given a $300–500 training budget. Including $100–300 in AWS credits. AWS Cognito for authentication. The system is expected to handle a performance target of 1–3 claims per minute on average, up to 10 per minute.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p:txBody>
      </p:sp>
      <p:sp>
        <p:nvSpPr>
          <p:cNvPr id="84" name="Google Shape;8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Figure 1.</a:t>
            </a:r>
            <a:r>
              <a:rPr lang="en" sz="1100">
                <a:solidFill>
                  <a:schemeClr val="dk1"/>
                </a:solidFill>
              </a:rPr>
              <a:t> UC-1 UML diagram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UC-1: Submit Claim</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Actor:</a:t>
            </a:r>
            <a:r>
              <a:rPr lang="en" sz="1100">
                <a:solidFill>
                  <a:schemeClr val="dk1"/>
                </a:solidFill>
              </a:rPr>
              <a:t> Customer or Insurance Employee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a:solidFill>
                  <a:schemeClr val="dk1"/>
                </a:solidFill>
              </a:rPr>
              <a:t>An authenticated user submits claim information through the web interface. The system validates the information and submits it for analysis. The analysis produces a complexity score, expected payout, and explanation of the complexity score.</a:t>
            </a:r>
            <a:endParaRPr sz="1100">
              <a:solidFill>
                <a:schemeClr val="dk1"/>
              </a:solidFill>
            </a:endParaRPr>
          </a:p>
          <a:p>
            <a:pPr marL="0" lvl="0" indent="0" algn="l" rtl="0">
              <a:spcBef>
                <a:spcPts val="800"/>
              </a:spcBef>
              <a:spcAft>
                <a:spcPts val="1200"/>
              </a:spcAft>
              <a:buNone/>
            </a:pPr>
            <a:endParaRPr/>
          </a:p>
        </p:txBody>
      </p:sp>
      <p:pic>
        <p:nvPicPr>
          <p:cNvPr id="85" name="Google Shape;85;p17"/>
          <p:cNvPicPr preferRelativeResize="0"/>
          <p:nvPr/>
        </p:nvPicPr>
        <p:blipFill>
          <a:blip r:embed="rId3">
            <a:alphaModFix/>
          </a:blip>
          <a:stretch>
            <a:fillRect/>
          </a:stretch>
        </p:blipFill>
        <p:spPr>
          <a:xfrm>
            <a:off x="1493700" y="2571750"/>
            <a:ext cx="5616875" cy="2056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p:txBody>
      </p:sp>
      <p:sp>
        <p:nvSpPr>
          <p:cNvPr id="91" name="Google Shape;91;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Figure 2.</a:t>
            </a:r>
            <a:r>
              <a:rPr lang="en" sz="1100">
                <a:solidFill>
                  <a:schemeClr val="dk1"/>
                </a:solidFill>
              </a:rPr>
              <a:t> UC-2 UML diagram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UC-2: View Claim Analysis</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Actor:</a:t>
            </a:r>
            <a:r>
              <a:rPr lang="en" sz="1100">
                <a:solidFill>
                  <a:schemeClr val="dk1"/>
                </a:solidFill>
              </a:rPr>
              <a:t> Customer or Insurance Employee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a:solidFill>
                  <a:schemeClr val="dk1"/>
                </a:solidFill>
              </a:rPr>
              <a:t>The user views the complexity score, expected payout, graphical confidence range, and an explanation of the factors contributing to the complexity score.</a:t>
            </a:r>
            <a:endParaRPr sz="1100">
              <a:solidFill>
                <a:schemeClr val="dk1"/>
              </a:solidFill>
            </a:endParaRPr>
          </a:p>
          <a:p>
            <a:pPr marL="0" lvl="0" indent="0" algn="l" rtl="0">
              <a:spcBef>
                <a:spcPts val="800"/>
              </a:spcBef>
              <a:spcAft>
                <a:spcPts val="1200"/>
              </a:spcAft>
              <a:buNone/>
            </a:pPr>
            <a:endParaRPr/>
          </a:p>
        </p:txBody>
      </p:sp>
      <p:pic>
        <p:nvPicPr>
          <p:cNvPr id="92" name="Google Shape;92;p18"/>
          <p:cNvPicPr preferRelativeResize="0"/>
          <p:nvPr/>
        </p:nvPicPr>
        <p:blipFill>
          <a:blip r:embed="rId3">
            <a:alphaModFix/>
          </a:blip>
          <a:stretch>
            <a:fillRect/>
          </a:stretch>
        </p:blipFill>
        <p:spPr>
          <a:xfrm>
            <a:off x="2481726" y="2571750"/>
            <a:ext cx="3759249" cy="224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p:txBody>
      </p:sp>
      <p:sp>
        <p:nvSpPr>
          <p:cNvPr id="98" name="Google Shape;98;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Figure 3.</a:t>
            </a:r>
            <a:r>
              <a:rPr lang="en" sz="1100">
                <a:solidFill>
                  <a:schemeClr val="dk1"/>
                </a:solidFill>
              </a:rPr>
              <a:t> UC-3 UML diagram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UC-3: API Claim Analysis</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Actor:</a:t>
            </a:r>
            <a:r>
              <a:rPr lang="en" sz="1100">
                <a:solidFill>
                  <a:schemeClr val="dk1"/>
                </a:solidFill>
              </a:rPr>
              <a:t> Corporate User / External System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a:solidFill>
                  <a:schemeClr val="dk1"/>
                </a:solidFill>
              </a:rPr>
              <a:t>An external insurance system submits claim information through the API and receives the model's predictions and applicable explanation information.</a:t>
            </a:r>
            <a:endParaRPr sz="1100">
              <a:solidFill>
                <a:schemeClr val="dk1"/>
              </a:solidFill>
            </a:endParaRPr>
          </a:p>
          <a:p>
            <a:pPr marL="0" lvl="0" indent="0" algn="l" rtl="0">
              <a:spcBef>
                <a:spcPts val="800"/>
              </a:spcBef>
              <a:spcAft>
                <a:spcPts val="1200"/>
              </a:spcAft>
              <a:buNone/>
            </a:pPr>
            <a:endParaRPr/>
          </a:p>
        </p:txBody>
      </p:sp>
      <p:pic>
        <p:nvPicPr>
          <p:cNvPr id="99" name="Google Shape;99;p19"/>
          <p:cNvPicPr preferRelativeResize="0"/>
          <p:nvPr/>
        </p:nvPicPr>
        <p:blipFill>
          <a:blip r:embed="rId3">
            <a:alphaModFix/>
          </a:blip>
          <a:stretch>
            <a:fillRect/>
          </a:stretch>
        </p:blipFill>
        <p:spPr>
          <a:xfrm>
            <a:off x="1358325" y="2771425"/>
            <a:ext cx="5945925" cy="1981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p:txBody>
      </p:sp>
      <p:sp>
        <p:nvSpPr>
          <p:cNvPr id="105" name="Google Shape;105;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Figure 4.</a:t>
            </a:r>
            <a:r>
              <a:rPr lang="en" sz="1100">
                <a:solidFill>
                  <a:schemeClr val="dk1"/>
                </a:solidFill>
              </a:rPr>
              <a:t> UC-4 UML diagram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UC-4: Retrain Models</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Actor:</a:t>
            </a:r>
            <a:r>
              <a:rPr lang="en" sz="1100">
                <a:solidFill>
                  <a:schemeClr val="dk1"/>
                </a:solidFill>
              </a:rPr>
              <a:t> Authorized Administrator</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a:solidFill>
                  <a:schemeClr val="dk1"/>
                </a:solidFill>
              </a:rPr>
              <a:t>The system's machine learning models are retrained using updated claim data. The current plan is to retrain approximately every six months.</a:t>
            </a:r>
            <a:endParaRPr sz="1100">
              <a:solidFill>
                <a:schemeClr val="dk1"/>
              </a:solidFill>
            </a:endParaRPr>
          </a:p>
          <a:p>
            <a:pPr marL="0" lvl="0" indent="0" algn="l" rtl="0">
              <a:spcBef>
                <a:spcPts val="800"/>
              </a:spcBef>
              <a:spcAft>
                <a:spcPts val="1200"/>
              </a:spcAft>
              <a:buNone/>
            </a:pPr>
            <a:endParaRPr/>
          </a:p>
        </p:txBody>
      </p:sp>
      <p:pic>
        <p:nvPicPr>
          <p:cNvPr id="106" name="Google Shape;106;p20"/>
          <p:cNvPicPr preferRelativeResize="0"/>
          <p:nvPr/>
        </p:nvPicPr>
        <p:blipFill>
          <a:blip r:embed="rId3">
            <a:alphaModFix/>
          </a:blip>
          <a:stretch>
            <a:fillRect/>
          </a:stretch>
        </p:blipFill>
        <p:spPr>
          <a:xfrm>
            <a:off x="2520849" y="2502325"/>
            <a:ext cx="3414774" cy="2437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a:p>
            <a:pPr marL="0" lvl="0" indent="0" algn="l" rtl="0">
              <a:spcBef>
                <a:spcPts val="0"/>
              </a:spcBef>
              <a:spcAft>
                <a:spcPts val="0"/>
              </a:spcAft>
              <a:buNone/>
            </a:pPr>
            <a:endParaRPr/>
          </a:p>
        </p:txBody>
      </p:sp>
      <p:sp>
        <p:nvSpPr>
          <p:cNvPr id="112" name="Google Shape;11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sz="1100" b="1">
                <a:solidFill>
                  <a:schemeClr val="dk1"/>
                </a:solidFill>
              </a:rPr>
              <a:t>US-1 — Customer Submits a Claim</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User Story:</a:t>
            </a:r>
            <a:br>
              <a:rPr lang="en" sz="1100" b="1">
                <a:solidFill>
                  <a:schemeClr val="dk1"/>
                </a:solidFill>
              </a:rPr>
            </a:br>
            <a:r>
              <a:rPr lang="en" sz="1100">
                <a:solidFill>
                  <a:schemeClr val="dk1"/>
                </a:solidFill>
              </a:rPr>
              <a:t> As a customer, I want to submit my claim information, so that the system can analyze my claim.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Success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I am an authenticated customer with valid claim information,</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submit my claim,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accepts the claim and generates a complexity score, expected payout, confidence range, and explanation of the complexity score.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Exceptional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my claim information is incomplete or invalid,</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submit the claim,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informs me that the claim cannot be processed and identifies the required information.</a:t>
            </a:r>
            <a:endParaRPr sz="1100">
              <a:solidFill>
                <a:schemeClr val="dk1"/>
              </a:solidFill>
            </a:endParaRPr>
          </a:p>
          <a:p>
            <a:pPr marL="0" lvl="0" indent="0" algn="l" rtl="0">
              <a:spcBef>
                <a:spcPts val="8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6"/>
              <a:buFont typeface="Arial"/>
              <a:buNone/>
            </a:pPr>
            <a:r>
              <a:rPr lang="en"/>
              <a:t>4. User Stories, Use Cases, UML</a:t>
            </a:r>
            <a:endParaRPr/>
          </a:p>
          <a:p>
            <a:pPr marL="0" lvl="0" indent="0" algn="l" rtl="0">
              <a:spcBef>
                <a:spcPts val="0"/>
              </a:spcBef>
              <a:spcAft>
                <a:spcPts val="0"/>
              </a:spcAft>
              <a:buNone/>
            </a:pPr>
            <a:endParaRPr/>
          </a:p>
        </p:txBody>
      </p:sp>
      <p:sp>
        <p:nvSpPr>
          <p:cNvPr id="118" name="Google Shape;11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sz="1100" b="1">
                <a:solidFill>
                  <a:schemeClr val="dk1"/>
                </a:solidFill>
              </a:rPr>
              <a:t>US-2 — Customer Views Claim Analysis</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User Story:</a:t>
            </a:r>
            <a:br>
              <a:rPr lang="en" sz="1100" b="1">
                <a:solidFill>
                  <a:schemeClr val="dk1"/>
                </a:solidFill>
              </a:rPr>
            </a:br>
            <a:r>
              <a:rPr lang="en" sz="1100">
                <a:solidFill>
                  <a:schemeClr val="dk1"/>
                </a:solidFill>
              </a:rPr>
              <a:t> As a customer, I want to view my claim analysis, so that I can understand the expected complexity and cost of my claim.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Success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my claim has been successfully analyzed,</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view the claim results,</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displays the complexity score, contributing factors, expected payout, graphical confidence range, and explanation of the complexity score.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Exceptional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an analysis is unavailable or cannot be completed,</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attempt to view the results,</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informs me that the analysis is unavailable.</a:t>
            </a:r>
            <a:endParaRPr sz="1100">
              <a:solidFill>
                <a:schemeClr val="dk1"/>
              </a:solidFill>
            </a:endParaRPr>
          </a:p>
          <a:p>
            <a:pPr marL="0" lvl="0" indent="0" algn="l" rtl="0">
              <a:spcBef>
                <a:spcPts val="8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a:p>
            <a:pPr marL="0" lvl="0" indent="0" algn="l" rtl="0">
              <a:spcBef>
                <a:spcPts val="0"/>
              </a:spcBef>
              <a:spcAft>
                <a:spcPts val="0"/>
              </a:spcAft>
              <a:buNone/>
            </a:pPr>
            <a:endParaRPr/>
          </a:p>
        </p:txBody>
      </p:sp>
      <p:sp>
        <p:nvSpPr>
          <p:cNvPr id="124" name="Google Shape;12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Clr>
                <a:schemeClr val="dk1"/>
              </a:buClr>
              <a:buSzPts val="1100"/>
              <a:buFont typeface="Arial"/>
              <a:buNone/>
            </a:pPr>
            <a:r>
              <a:rPr lang="en" sz="1100" b="1">
                <a:solidFill>
                  <a:schemeClr val="dk1"/>
                </a:solidFill>
              </a:rPr>
              <a:t>US-3 — Claims Handler Analyzes a Claim</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User Story:</a:t>
            </a:r>
            <a:br>
              <a:rPr lang="en" sz="1100" b="1">
                <a:solidFill>
                  <a:schemeClr val="dk1"/>
                </a:solidFill>
              </a:rPr>
            </a:br>
            <a:r>
              <a:rPr lang="en" sz="1100">
                <a:solidFill>
                  <a:schemeClr val="dk1"/>
                </a:solidFill>
              </a:rPr>
              <a:t> As a claims handler, I want to analyze a claim, so that I can better understand its complexity and expected cost.</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Success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I am an authenticated claims handler with valid claim information,</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submit the claim for analysis,</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provides the complexity score, contributing sub-scores, expected payout, confidence range, and explanation of the complexity score.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Exceptional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the claim information is incomplete or invalid,</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I submit the claim,</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identifies the invalid or missing information and does not generate an analysis.</a:t>
            </a:r>
            <a:endParaRPr sz="1100">
              <a:solidFill>
                <a:schemeClr val="dk1"/>
              </a:solidFill>
            </a:endParaRPr>
          </a:p>
          <a:p>
            <a:pPr marL="0" lvl="0" indent="0" algn="l" rtl="0">
              <a:spcBef>
                <a:spcPts val="800"/>
              </a:spcBef>
              <a:spcAft>
                <a:spcPts val="1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a:p>
            <a:pPr marL="0" lvl="0" indent="0" algn="l" rtl="0">
              <a:spcBef>
                <a:spcPts val="0"/>
              </a:spcBef>
              <a:spcAft>
                <a:spcPts val="0"/>
              </a:spcAft>
              <a:buNone/>
            </a:pPr>
            <a:endParaRPr/>
          </a:p>
        </p:txBody>
      </p:sp>
      <p:sp>
        <p:nvSpPr>
          <p:cNvPr id="130" name="Google Shape;130;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Clr>
                <a:schemeClr val="dk1"/>
              </a:buClr>
              <a:buSzPts val="1100"/>
              <a:buFont typeface="Arial"/>
              <a:buNone/>
            </a:pPr>
            <a:r>
              <a:rPr lang="en" sz="1100" b="1">
                <a:solidFill>
                  <a:schemeClr val="dk1"/>
                </a:solidFill>
              </a:rPr>
              <a:t>US-4 — Corporate User Integrates the System</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User Story:</a:t>
            </a:r>
            <a:br>
              <a:rPr lang="en" sz="1100" b="1">
                <a:solidFill>
                  <a:schemeClr val="dk1"/>
                </a:solidFill>
              </a:rPr>
            </a:br>
            <a:r>
              <a:rPr lang="en" sz="1100">
                <a:solidFill>
                  <a:schemeClr val="dk1"/>
                </a:solidFill>
              </a:rPr>
              <a:t> As an insurance company, I want to access the claim analysis system through an API, so that I can integrate claim analysis into existing software.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Success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the external system provides valid claim information through the API,</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the API receives the request,</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processes the claim and returns the applicable analysis results, including the complexity score, expected payout, and explanation information.</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Exceptional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the API request contains invalid or incomplete information,</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the request is received,</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returns an error indicating that the request cannot be processed.</a:t>
            </a:r>
            <a:endParaRPr sz="1100">
              <a:solidFill>
                <a:schemeClr val="dk1"/>
              </a:solidFill>
            </a:endParaRPr>
          </a:p>
          <a:p>
            <a:pPr marL="0" lvl="0" indent="0" algn="l" rtl="0">
              <a:spcBef>
                <a:spcPts val="800"/>
              </a:spcBef>
              <a:spcAft>
                <a:spcPts val="12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4. User Stories, Use Cases, UML</a:t>
            </a:r>
            <a:endParaRPr/>
          </a:p>
          <a:p>
            <a:pPr marL="0" lvl="0" indent="0" algn="l" rtl="0">
              <a:spcBef>
                <a:spcPts val="0"/>
              </a:spcBef>
              <a:spcAft>
                <a:spcPts val="0"/>
              </a:spcAft>
              <a:buNone/>
            </a:pPr>
            <a:endParaRPr/>
          </a:p>
        </p:txBody>
      </p:sp>
      <p:sp>
        <p:nvSpPr>
          <p:cNvPr id="136" name="Google Shape;136;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100" b="1">
                <a:solidFill>
                  <a:schemeClr val="dk1"/>
                </a:solidFill>
              </a:rPr>
              <a:t>US-5 — Administrator Retrains the Model</a:t>
            </a:r>
            <a:endParaRPr sz="1100" b="1">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User Story:</a:t>
            </a:r>
            <a:br>
              <a:rPr lang="en" sz="1100" b="1">
                <a:solidFill>
                  <a:schemeClr val="dk1"/>
                </a:solidFill>
              </a:rPr>
            </a:br>
            <a:r>
              <a:rPr lang="en" sz="1100">
                <a:solidFill>
                  <a:schemeClr val="dk1"/>
                </a:solidFill>
              </a:rPr>
              <a:t> As an administrator, I want to retrain the machine learning models, so that the system can incorporate newly available claim data.</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Success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updated claim data is available,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the administrator initiates model retraining,</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trains the models using the updated data and makes the updated models available for future analysis.</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Exceptional Conditions:</a:t>
            </a:r>
            <a:br>
              <a:rPr lang="en" sz="1100" b="1">
                <a:solidFill>
                  <a:schemeClr val="dk1"/>
                </a:solidFill>
              </a:rPr>
            </a:br>
            <a:r>
              <a:rPr lang="en" sz="1100">
                <a:solidFill>
                  <a:schemeClr val="dk1"/>
                </a:solidFill>
              </a:rPr>
              <a:t> </a:t>
            </a:r>
            <a:r>
              <a:rPr lang="en" sz="1100" b="1">
                <a:solidFill>
                  <a:schemeClr val="dk1"/>
                </a:solidFill>
              </a:rPr>
              <a:t>Given</a:t>
            </a:r>
            <a:r>
              <a:rPr lang="en" sz="1100">
                <a:solidFill>
                  <a:schemeClr val="dk1"/>
                </a:solidFill>
              </a:rPr>
              <a:t> the training data is invalid or unavailable,</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When</a:t>
            </a:r>
            <a:r>
              <a:rPr lang="en" sz="1100">
                <a:solidFill>
                  <a:schemeClr val="dk1"/>
                </a:solidFill>
              </a:rPr>
              <a:t> the administrator attempts to retrain the models,</a:t>
            </a:r>
            <a:endParaRPr sz="1100">
              <a:solidFill>
                <a:schemeClr val="dk1"/>
              </a:solidFill>
            </a:endParaRPr>
          </a:p>
          <a:p>
            <a:pPr marL="0" lvl="0" indent="0" algn="l" rtl="0">
              <a:spcBef>
                <a:spcPts val="800"/>
              </a:spcBef>
              <a:spcAft>
                <a:spcPts val="0"/>
              </a:spcAft>
              <a:buClr>
                <a:schemeClr val="dk1"/>
              </a:buClr>
              <a:buSzPts val="1100"/>
              <a:buFont typeface="Arial"/>
              <a:buNone/>
            </a:pPr>
            <a:r>
              <a:rPr lang="en" sz="1100" b="1">
                <a:solidFill>
                  <a:schemeClr val="dk1"/>
                </a:solidFill>
              </a:rPr>
              <a:t>Then</a:t>
            </a:r>
            <a:r>
              <a:rPr lang="en" sz="1100">
                <a:solidFill>
                  <a:schemeClr val="dk1"/>
                </a:solidFill>
              </a:rPr>
              <a:t> the system reports the problem and does not replace the existing models.</a:t>
            </a:r>
            <a:endParaRPr sz="1100">
              <a:solidFill>
                <a:schemeClr val="dk1"/>
              </a:solidFill>
            </a:endParaRPr>
          </a:p>
          <a:p>
            <a:pPr marL="0" lvl="0" indent="0" algn="l" rtl="0">
              <a:spcBef>
                <a:spcPts val="800"/>
              </a:spcBef>
              <a:spcAft>
                <a:spcPts val="12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5. Existing solution</a:t>
            </a:r>
            <a:endParaRPr/>
          </a:p>
        </p:txBody>
      </p:sp>
      <p:sp>
        <p:nvSpPr>
          <p:cNvPr id="142" name="Google Shape;142;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dk1"/>
                </a:solidFill>
              </a:rPr>
              <a:t>Penser currently manages its claims in a claims management system where examiners analyze claim complexity and expected payout manually. </a:t>
            </a:r>
            <a:endParaRPr dirty="0">
              <a:solidFill>
                <a:schemeClr val="dk1"/>
              </a:solidFill>
            </a:endParaRPr>
          </a:p>
          <a:p>
            <a:pPr marL="0" lvl="0" indent="0" algn="l" rtl="0">
              <a:spcBef>
                <a:spcPts val="1200"/>
              </a:spcBef>
              <a:spcAft>
                <a:spcPts val="0"/>
              </a:spcAft>
              <a:buNone/>
            </a:pPr>
            <a:r>
              <a:rPr lang="en" dirty="0">
                <a:solidFill>
                  <a:schemeClr val="dk1"/>
                </a:solidFill>
              </a:rPr>
              <a:t>We are expected to create a model to assist this, by generate a complexity score and expected payout for reference.</a:t>
            </a:r>
            <a:endParaRPr dirty="0">
              <a:solidFill>
                <a:schemeClr val="dk1"/>
              </a:solidFill>
            </a:endParaRPr>
          </a:p>
          <a:p>
            <a:pPr marL="0" lvl="0" indent="0" algn="l" rtl="0">
              <a:spcBef>
                <a:spcPts val="1200"/>
              </a:spcBef>
              <a:spcAft>
                <a:spcPts val="1200"/>
              </a:spcAft>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6. Features developed</a:t>
            </a:r>
            <a:endParaRPr/>
          </a:p>
        </p:txBody>
      </p:sp>
      <p:sp>
        <p:nvSpPr>
          <p:cNvPr id="148" name="Google Shape;14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200">
                <a:solidFill>
                  <a:schemeClr val="dk1"/>
                </a:solidFill>
              </a:rPr>
              <a:t>No features completed this sprint since the Claims data not received yet</a:t>
            </a:r>
            <a:endParaRPr sz="1200">
              <a:solidFill>
                <a:schemeClr val="dk1"/>
              </a:solidFill>
            </a:endParaRPr>
          </a:p>
          <a:p>
            <a:pPr marL="457200" lvl="0" indent="-304800" algn="l" rtl="0">
              <a:spcBef>
                <a:spcPts val="1200"/>
              </a:spcBef>
              <a:spcAft>
                <a:spcPts val="0"/>
              </a:spcAft>
              <a:buClr>
                <a:schemeClr val="dk1"/>
              </a:buClr>
              <a:buSzPts val="1200"/>
              <a:buChar char="●"/>
            </a:pPr>
            <a:r>
              <a:rPr lang="en" sz="1200">
                <a:solidFill>
                  <a:schemeClr val="dk1"/>
                </a:solidFill>
              </a:rPr>
              <a:t>Penser is in the middle of switching claims management systems, which caused about a month delay</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Half of the sanitized data is being sent first, and the rest comes after October 12</a:t>
            </a:r>
            <a:endParaRPr sz="1200">
              <a:solidFill>
                <a:schemeClr val="dk1"/>
              </a:solidFill>
            </a:endParaRPr>
          </a:p>
          <a:p>
            <a:pPr marL="457200" lvl="0" indent="-304800" algn="l" rtl="0">
              <a:spcBef>
                <a:spcPts val="0"/>
              </a:spcBef>
              <a:spcAft>
                <a:spcPts val="0"/>
              </a:spcAft>
              <a:buClr>
                <a:schemeClr val="dk1"/>
              </a:buClr>
              <a:buSzPts val="1200"/>
              <a:buChar char="●"/>
            </a:pPr>
            <a:r>
              <a:rPr lang="en" sz="1200">
                <a:solidFill>
                  <a:schemeClr val="dk1"/>
                </a:solidFill>
              </a:rPr>
              <a:t>No access yet to the GitHub organization, AWS, or Claude</a:t>
            </a:r>
            <a:endParaRPr sz="1200">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7. Kanban &amp; contributions</a:t>
            </a:r>
            <a:endParaRPr/>
          </a:p>
        </p:txBody>
      </p:sp>
      <p:sp>
        <p:nvSpPr>
          <p:cNvPr id="154" name="Google Shape;15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dk1"/>
                </a:solidFill>
              </a:rPr>
              <a:t>Kanban board not set up yet because we don’t have access to the Penser GitHub organization. </a:t>
            </a:r>
            <a:endParaRPr>
              <a:solidFill>
                <a:schemeClr val="dk1"/>
              </a:solidFill>
            </a:endParaRPr>
          </a:p>
          <a:p>
            <a:pPr marL="0" lvl="0" indent="0" algn="l" rtl="0">
              <a:spcBef>
                <a:spcPts val="120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8. Skills &amp; learning</a:t>
            </a:r>
            <a:endParaRPr/>
          </a:p>
        </p:txBody>
      </p:sp>
      <p:sp>
        <p:nvSpPr>
          <p:cNvPr id="160" name="Google Shape;160;p29"/>
          <p:cNvSpPr txBox="1">
            <a:spLocks noGrp="1"/>
          </p:cNvSpPr>
          <p:nvPr>
            <p:ph type="body" idx="1"/>
          </p:nvPr>
        </p:nvSpPr>
        <p:spPr>
          <a:xfrm>
            <a:off x="358675"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solidFill>
                  <a:schemeClr val="dk1"/>
                </a:solidFill>
              </a:rPr>
              <a:t>Kevin: Already had experience training models from personal projects. From our meetings with Penser, I learned how they sanitize claims data and that examiners activity alone doesn’t mean a claim is complex. Also been working on Python since it’s the language we’ll be using the most of. </a:t>
            </a:r>
            <a:endParaRPr>
              <a:solidFill>
                <a:schemeClr val="dk1"/>
              </a:solidFill>
            </a:endParaRPr>
          </a:p>
          <a:p>
            <a:pPr marL="0" lvl="0" indent="0" algn="l" rtl="0">
              <a:spcBef>
                <a:spcPts val="1200"/>
              </a:spcBef>
              <a:spcAft>
                <a:spcPts val="0"/>
              </a:spcAft>
              <a:buNone/>
            </a:pPr>
            <a:r>
              <a:rPr lang="en">
                <a:solidFill>
                  <a:schemeClr val="dk1"/>
                </a:solidFill>
              </a:rPr>
              <a:t>Brian: Has prior experience with ML, python, etc. Also have some experience with frontend. I spent time getting familiar with AWS as that is expected during this project with AWS Cloud Practitioner.</a:t>
            </a:r>
            <a:endParaRPr>
              <a:solidFill>
                <a:schemeClr val="dk1"/>
              </a:solidFill>
            </a:endParaRPr>
          </a:p>
          <a:p>
            <a:pPr marL="0" lvl="0" indent="0" algn="l" rtl="0">
              <a:spcBef>
                <a:spcPts val="1200"/>
              </a:spcBef>
              <a:spcAft>
                <a:spcPts val="1200"/>
              </a:spcAft>
              <a:buNone/>
            </a:pPr>
            <a:r>
              <a:rPr lang="en">
                <a:solidFill>
                  <a:schemeClr val="dk1"/>
                </a:solidFill>
              </a:rPr>
              <a:t>Ishaan:  Been working python as well since that's the language we are going to be using. Also asking questions within meetings about the how claim complexity algorithm and how we are going to revise some of the documents we will be given.</a:t>
            </a:r>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9. Responsible GenAI use</a:t>
            </a:r>
            <a:endParaRPr/>
          </a:p>
        </p:txBody>
      </p:sp>
      <p:sp>
        <p:nvSpPr>
          <p:cNvPr id="166" name="Google Shape;16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1"/>
                </a:solidFill>
              </a:rPr>
              <a:t>Claude, ChatGPT were used to help generate project documentation, diagrams, meeting summaries, etc. AI was used to increase our productivity. However, AI was not always accurate, and we always verified any AI generated work.</a:t>
            </a:r>
            <a:endParaRPr sz="1600">
              <a:solidFill>
                <a:schemeClr val="dk1"/>
              </a:solidFill>
            </a:endParaRPr>
          </a:p>
          <a:p>
            <a:pPr marL="0" lvl="0" indent="0" algn="l" rtl="0">
              <a:spcBef>
                <a:spcPts val="1200"/>
              </a:spcBef>
              <a:spcAft>
                <a:spcPts val="1200"/>
              </a:spcAft>
              <a:buNone/>
            </a:pPr>
            <a:r>
              <a:rPr lang="en" sz="1600">
                <a:solidFill>
                  <a:schemeClr val="dk1"/>
                </a:solidFill>
              </a:rPr>
              <a:t>We were also given full permission to use AI from the client.</a:t>
            </a:r>
            <a:endParaRPr sz="16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 Achievements &amp; challenges</a:t>
            </a:r>
            <a:endParaRPr/>
          </a:p>
        </p:txBody>
      </p:sp>
      <p:sp>
        <p:nvSpPr>
          <p:cNvPr id="172" name="Google Shape;172;p31"/>
          <p:cNvSpPr txBox="1">
            <a:spLocks noGrp="1"/>
          </p:cNvSpPr>
          <p:nvPr>
            <p:ph type="body" idx="1"/>
          </p:nvPr>
        </p:nvSpPr>
        <p:spPr>
          <a:xfrm>
            <a:off x="311700" y="1152475"/>
            <a:ext cx="84639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1"/>
                </a:solidFill>
              </a:rPr>
              <a:t>Achievements:</a:t>
            </a:r>
            <a:endParaRPr sz="1600">
              <a:solidFill>
                <a:schemeClr val="dk1"/>
              </a:solidFill>
            </a:endParaRPr>
          </a:p>
          <a:p>
            <a:pPr marL="457200" lvl="0" indent="-330200" algn="l" rtl="0">
              <a:spcBef>
                <a:spcPts val="1200"/>
              </a:spcBef>
              <a:spcAft>
                <a:spcPts val="0"/>
              </a:spcAft>
              <a:buClr>
                <a:schemeClr val="dk1"/>
              </a:buClr>
              <a:buSzPts val="1600"/>
              <a:buChar char="●"/>
            </a:pPr>
            <a:r>
              <a:rPr lang="en" sz="1600">
                <a:solidFill>
                  <a:schemeClr val="dk1"/>
                </a:solidFill>
              </a:rPr>
              <a:t>We collected a clear set of requirements from the client over 3 meetings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We created user stories, use case diagrams, and UML diagrams. </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We signed the confidentiality agreements needed for data access. </a:t>
            </a:r>
            <a:endParaRPr sz="1600">
              <a:solidFill>
                <a:schemeClr val="dk1"/>
              </a:solidFill>
            </a:endParaRPr>
          </a:p>
          <a:p>
            <a:pPr marL="0" lvl="0" indent="0" algn="l" rtl="0">
              <a:spcBef>
                <a:spcPts val="1200"/>
              </a:spcBef>
              <a:spcAft>
                <a:spcPts val="0"/>
              </a:spcAft>
              <a:buNone/>
            </a:pPr>
            <a:r>
              <a:rPr lang="en" sz="1600">
                <a:solidFill>
                  <a:schemeClr val="dk1"/>
                </a:solidFill>
              </a:rPr>
              <a:t>Challenges: </a:t>
            </a:r>
            <a:endParaRPr sz="1600">
              <a:solidFill>
                <a:schemeClr val="dk1"/>
              </a:solidFill>
            </a:endParaRPr>
          </a:p>
          <a:p>
            <a:pPr marL="0" lvl="0" indent="0" algn="l" rtl="0">
              <a:spcBef>
                <a:spcPts val="1200"/>
              </a:spcBef>
              <a:spcAft>
                <a:spcPts val="1200"/>
              </a:spcAft>
              <a:buNone/>
            </a:pPr>
            <a:r>
              <a:rPr lang="en" sz="1600">
                <a:solidFill>
                  <a:schemeClr val="dk1"/>
                </a:solidFill>
              </a:rPr>
              <a:t>We have not received the data yet because Penser is in the middle of switching claims management systems which caused a month delay. We also do not have access yet to the GitHub organization or AWS. </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11. Next Steps &amp; Retrospective</a:t>
            </a:r>
            <a:endParaRPr/>
          </a:p>
        </p:txBody>
      </p:sp>
      <p:sp>
        <p:nvSpPr>
          <p:cNvPr id="178" name="Google Shape;178;p32"/>
          <p:cNvSpPr txBox="1">
            <a:spLocks noGrp="1"/>
          </p:cNvSpPr>
          <p:nvPr>
            <p:ph type="body" idx="1"/>
          </p:nvPr>
        </p:nvSpPr>
        <p:spPr>
          <a:xfrm>
            <a:off x="311700" y="1152475"/>
            <a:ext cx="38004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dirty="0">
                <a:solidFill>
                  <a:schemeClr val="tx1"/>
                </a:solidFill>
              </a:rPr>
              <a:t>What went well:</a:t>
            </a:r>
            <a:endParaRPr sz="1600" dirty="0">
              <a:solidFill>
                <a:schemeClr val="tx1"/>
              </a:solidFill>
            </a:endParaRPr>
          </a:p>
          <a:p>
            <a:pPr marL="457200" lvl="0" indent="-330200" algn="l" rtl="0">
              <a:spcBef>
                <a:spcPts val="1200"/>
              </a:spcBef>
              <a:spcAft>
                <a:spcPts val="0"/>
              </a:spcAft>
              <a:buClr>
                <a:schemeClr val="dk1"/>
              </a:buClr>
              <a:buSzPts val="1600"/>
              <a:buChar char="●"/>
            </a:pPr>
            <a:r>
              <a:rPr lang="en" sz="1600" dirty="0">
                <a:solidFill>
                  <a:schemeClr val="tx1"/>
                </a:solidFill>
              </a:rPr>
              <a:t>Requirement gathering</a:t>
            </a:r>
            <a:br>
              <a:rPr lang="en" sz="1600" dirty="0">
                <a:solidFill>
                  <a:schemeClr val="tx1"/>
                </a:solidFill>
              </a:rPr>
            </a:br>
            <a:r>
              <a:rPr lang="en" sz="1600" dirty="0">
                <a:solidFill>
                  <a:schemeClr val="tx1"/>
                </a:solidFill>
              </a:rPr>
              <a:t>Documentation</a:t>
            </a:r>
          </a:p>
          <a:p>
            <a:pPr marL="127000" lvl="0" indent="0" algn="l" rtl="0">
              <a:spcBef>
                <a:spcPts val="1200"/>
              </a:spcBef>
              <a:spcAft>
                <a:spcPts val="0"/>
              </a:spcAft>
              <a:buClr>
                <a:schemeClr val="dk1"/>
              </a:buClr>
              <a:buSzPts val="1600"/>
              <a:buNone/>
            </a:pPr>
            <a:r>
              <a:rPr lang="en" sz="1600" dirty="0">
                <a:solidFill>
                  <a:schemeClr val="tx1"/>
                </a:solidFill>
              </a:rPr>
              <a:t>Area for Improvement:</a:t>
            </a:r>
            <a:endParaRPr sz="1600" dirty="0">
              <a:solidFill>
                <a:schemeClr val="tx1"/>
              </a:solidFill>
            </a:endParaRPr>
          </a:p>
          <a:p>
            <a:pPr marL="457200" lvl="0" indent="-330200" algn="l" rtl="0">
              <a:spcBef>
                <a:spcPts val="0"/>
              </a:spcBef>
              <a:spcAft>
                <a:spcPts val="0"/>
              </a:spcAft>
              <a:buSzPts val="1600"/>
              <a:buChar char="●"/>
            </a:pPr>
            <a:r>
              <a:rPr lang="en" sz="1600" dirty="0">
                <a:solidFill>
                  <a:schemeClr val="tx1"/>
                </a:solidFill>
              </a:rPr>
              <a:t>Client side issues causing delays</a:t>
            </a:r>
            <a:endParaRPr sz="1600" dirty="0">
              <a:solidFill>
                <a:schemeClr val="tx1"/>
              </a:solidFill>
            </a:endParaRPr>
          </a:p>
        </p:txBody>
      </p:sp>
      <p:sp>
        <p:nvSpPr>
          <p:cNvPr id="179" name="Google Shape;179;p32"/>
          <p:cNvSpPr txBox="1"/>
          <p:nvPr/>
        </p:nvSpPr>
        <p:spPr>
          <a:xfrm>
            <a:off x="4794000" y="1210650"/>
            <a:ext cx="3927300" cy="324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Next Sprint:</a:t>
            </a:r>
            <a:endParaRPr sz="1600">
              <a:solidFill>
                <a:schemeClr val="dk1"/>
              </a:solidFill>
            </a:endParaRPr>
          </a:p>
          <a:p>
            <a:pPr marL="0" lvl="0" indent="0" algn="l" rtl="0">
              <a:spcBef>
                <a:spcPts val="0"/>
              </a:spcBef>
              <a:spcAft>
                <a:spcPts val="0"/>
              </a:spcAft>
              <a:buNone/>
            </a:pP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Receive dataset</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Begin exploratory data analysis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Begin Feature Engineering</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Begin Cleaning data</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Begin choosing model and specifications</a:t>
            </a:r>
            <a:endParaRPr sz="1600">
              <a:solidFill>
                <a:schemeClr val="dk1"/>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12. Conclusion</a:t>
            </a:r>
            <a:endParaRPr/>
          </a:p>
        </p:txBody>
      </p:sp>
      <p:sp>
        <p:nvSpPr>
          <p:cNvPr id="185" name="Google Shape;18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a:solidFill>
                  <a:schemeClr val="dk1"/>
                </a:solidFill>
              </a:rPr>
              <a:t>In conclusion, we were able to collect requirements and build relevant diagrams and reports. However, due to some difficulties on the client’s side, we were unable to set up GitHub and receive dataset.</a:t>
            </a:r>
            <a:endParaRPr sz="1600">
              <a:solidFill>
                <a:schemeClr val="dk1"/>
              </a:solidFill>
            </a:endParaRPr>
          </a:p>
          <a:p>
            <a:pPr marL="0" lvl="0" indent="0" algn="l" rtl="0">
              <a:spcBef>
                <a:spcPts val="1200"/>
              </a:spcBef>
              <a:spcAft>
                <a:spcPts val="0"/>
              </a:spcAft>
              <a:buNone/>
            </a:pPr>
            <a:endParaRPr sz="1600">
              <a:solidFill>
                <a:schemeClr val="dk1"/>
              </a:solidFill>
            </a:endParaRPr>
          </a:p>
          <a:p>
            <a:pPr marL="0" lvl="0" indent="0" algn="l" rtl="0">
              <a:spcBef>
                <a:spcPts val="1200"/>
              </a:spcBef>
              <a:spcAft>
                <a:spcPts val="1200"/>
              </a:spcAft>
              <a:buNone/>
            </a:pPr>
            <a:r>
              <a:rPr lang="en" sz="1600">
                <a:solidFill>
                  <a:schemeClr val="dk1"/>
                </a:solidFill>
              </a:rPr>
              <a:t>Thank you to Joell and Keno for their guidance and for giving us the opportunity to work on this Project. We are very happy to be building and to fix complexity algorithm models that can help examiners work more efficiently.</a:t>
            </a:r>
            <a:endParaRPr sz="1600">
              <a:solidFill>
                <a:schemeClr val="dk1"/>
              </a:solidFill>
            </a:endParaRPr>
          </a:p>
        </p:txBody>
      </p:sp>
    </p:spTree>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1693</Words>
  <Application>Microsoft Office PowerPoint</Application>
  <PresentationFormat>On-screen Show (16:9)</PresentationFormat>
  <Paragraphs>121</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Proxima Nova</vt:lpstr>
      <vt:lpstr>Spearmint</vt:lpstr>
      <vt:lpstr>Sprint 1</vt:lpstr>
      <vt:lpstr>Introduction </vt:lpstr>
      <vt:lpstr>2. Sprint Objectives </vt:lpstr>
      <vt:lpstr>3. Requirements Gathering</vt:lpstr>
      <vt:lpstr>4. User Stories, Use Cases, UML</vt:lpstr>
      <vt:lpstr>4. User Stories, Use Cases, UML</vt:lpstr>
      <vt:lpstr>4. User Stories, Use Cases, UML</vt:lpstr>
      <vt:lpstr>4. User Stories, Use Cases, UML</vt:lpstr>
      <vt:lpstr>4. User Stories, Use Cases, UML </vt:lpstr>
      <vt:lpstr>4. User Stories, Use Cases, UML </vt:lpstr>
      <vt:lpstr>4. User Stories, Use Cases, UML </vt:lpstr>
      <vt:lpstr>4. User Stories, Use Cases, UML </vt:lpstr>
      <vt:lpstr>4. User Stories, Use Cases, UML </vt:lpstr>
      <vt:lpstr>5. Existing solution</vt:lpstr>
      <vt:lpstr>6. Features developed</vt:lpstr>
      <vt:lpstr>7. Kanban &amp; contributions</vt:lpstr>
      <vt:lpstr>8. Skills &amp; learning</vt:lpstr>
      <vt:lpstr>9. Responsible GenAI use</vt:lpstr>
      <vt:lpstr>10. Achievements &amp; challenges</vt:lpstr>
      <vt:lpstr>11. Next Steps &amp; Retrospective</vt:lpstr>
      <vt:lpstr>12.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Brian Leung</cp:lastModifiedBy>
  <cp:revision>2</cp:revision>
  <dcterms:modified xsi:type="dcterms:W3CDTF">2026-10-12T02:26:48Z</dcterms:modified>
</cp:coreProperties>
</file>